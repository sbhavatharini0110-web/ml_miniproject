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9" r:id="rId4"/>
    <p:sldId id="258"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3447" autoAdjust="0"/>
  </p:normalViewPr>
  <p:slideViewPr>
    <p:cSldViewPr snapToGrid="0">
      <p:cViewPr varScale="1">
        <p:scale>
          <a:sx n="66" d="100"/>
          <a:sy n="66" d="100"/>
        </p:scale>
        <p:origin x="644"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vatharini srinivasak kannan" userId="006e10d139b1534c" providerId="LiveId" clId="{2A213E6B-A5E5-44B1-94C7-A76D61A0D4FA}"/>
    <pc:docChg chg="modSld">
      <pc:chgData name="Bhavatharini srinivasak kannan" userId="006e10d139b1534c" providerId="LiveId" clId="{2A213E6B-A5E5-44B1-94C7-A76D61A0D4FA}" dt="2026-04-25T10:22:16.361" v="8" actId="1076"/>
      <pc:docMkLst>
        <pc:docMk/>
      </pc:docMkLst>
      <pc:sldChg chg="modSp mod">
        <pc:chgData name="Bhavatharini srinivasak kannan" userId="006e10d139b1534c" providerId="LiveId" clId="{2A213E6B-A5E5-44B1-94C7-A76D61A0D4FA}" dt="2026-04-25T10:22:16.361" v="8" actId="1076"/>
        <pc:sldMkLst>
          <pc:docMk/>
          <pc:sldMk cId="519586359" sldId="258"/>
        </pc:sldMkLst>
        <pc:graphicFrameChg chg="mod modGraphic">
          <ac:chgData name="Bhavatharini srinivasak kannan" userId="006e10d139b1534c" providerId="LiveId" clId="{2A213E6B-A5E5-44B1-94C7-A76D61A0D4FA}" dt="2026-04-25T10:22:16.361" v="8" actId="1076"/>
          <ac:graphicFrameMkLst>
            <pc:docMk/>
            <pc:sldMk cId="519586359" sldId="258"/>
            <ac:graphicFrameMk id="7" creationId="{ACE64048-76D1-E559-97A6-1E9DA8CC9F64}"/>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EF56DB-6447-4E9A-8D0B-327B958AB26D}" type="datetimeFigureOut">
              <a:rPr lang="en-US" smtClean="0"/>
              <a:t>4/25/2026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476D98-D61B-4655-9F07-885518B2E134}" type="slidenum">
              <a:rPr lang="en-US" smtClean="0"/>
              <a:t>‹#›</a:t>
            </a:fld>
            <a:endParaRPr lang="en-US"/>
          </a:p>
        </p:txBody>
      </p:sp>
    </p:spTree>
    <p:extLst>
      <p:ext uri="{BB962C8B-B14F-4D97-AF65-F5344CB8AC3E}">
        <p14:creationId xmlns:p14="http://schemas.microsoft.com/office/powerpoint/2010/main" val="9051794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2F0ED-5252-4C0D-3BA2-BA6ECDF907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4F6E366-4DE2-8E81-1DC3-0AEE197AF6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8C19ECA-A45F-0986-41DE-E73470F3D075}"/>
              </a:ext>
            </a:extLst>
          </p:cNvPr>
          <p:cNvSpPr>
            <a:spLocks noGrp="1"/>
          </p:cNvSpPr>
          <p:nvPr>
            <p:ph type="dt" sz="half" idx="10"/>
          </p:nvPr>
        </p:nvSpPr>
        <p:spPr/>
        <p:txBody>
          <a:bodyPr/>
          <a:lstStyle/>
          <a:p>
            <a:fld id="{36A8A127-BB09-41A4-B1CB-CF09F8E9604A}" type="datetime1">
              <a:rPr lang="en-US" smtClean="0"/>
              <a:t>4/25/2026</a:t>
            </a:fld>
            <a:endParaRPr lang="en-US"/>
          </a:p>
        </p:txBody>
      </p:sp>
      <p:sp>
        <p:nvSpPr>
          <p:cNvPr id="5" name="Footer Placeholder 4">
            <a:extLst>
              <a:ext uri="{FF2B5EF4-FFF2-40B4-BE49-F238E27FC236}">
                <a16:creationId xmlns:a16="http://schemas.microsoft.com/office/drawing/2014/main" id="{246DC80E-2DDD-1136-4BC6-B4406DBF7B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C6432E-64B5-4716-F794-CD0C848FE6AA}"/>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144428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75F44-3844-F881-3DC9-E55F3A5BB2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B5DD6E-70DC-EC37-F363-8CA0371D48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884CC4-4338-D905-6FCE-6141610CE918}"/>
              </a:ext>
            </a:extLst>
          </p:cNvPr>
          <p:cNvSpPr>
            <a:spLocks noGrp="1"/>
          </p:cNvSpPr>
          <p:nvPr>
            <p:ph type="dt" sz="half" idx="10"/>
          </p:nvPr>
        </p:nvSpPr>
        <p:spPr/>
        <p:txBody>
          <a:bodyPr/>
          <a:lstStyle/>
          <a:p>
            <a:fld id="{42A9C543-C1A5-4BB5-A80B-9531F5C51CEB}" type="datetime1">
              <a:rPr lang="en-US" smtClean="0"/>
              <a:t>4/25/2026</a:t>
            </a:fld>
            <a:endParaRPr lang="en-US"/>
          </a:p>
        </p:txBody>
      </p:sp>
      <p:sp>
        <p:nvSpPr>
          <p:cNvPr id="5" name="Footer Placeholder 4">
            <a:extLst>
              <a:ext uri="{FF2B5EF4-FFF2-40B4-BE49-F238E27FC236}">
                <a16:creationId xmlns:a16="http://schemas.microsoft.com/office/drawing/2014/main" id="{AD46F4CB-E19E-BF21-CA04-20FBF9E0B0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C561CA-A7D9-921E-283C-D2D26EC9D331}"/>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3855382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F0DB8-4328-6842-4C20-194E16496B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D1C16DD-B055-C373-DB9C-1095E3A7F61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308B3A-5B20-B104-4DC9-F294FE85DC4F}"/>
              </a:ext>
            </a:extLst>
          </p:cNvPr>
          <p:cNvSpPr>
            <a:spLocks noGrp="1"/>
          </p:cNvSpPr>
          <p:nvPr>
            <p:ph type="dt" sz="half" idx="10"/>
          </p:nvPr>
        </p:nvSpPr>
        <p:spPr/>
        <p:txBody>
          <a:bodyPr/>
          <a:lstStyle/>
          <a:p>
            <a:fld id="{85DB2ABE-BEC8-4A12-8AF2-3E9347C9F9C5}" type="datetime1">
              <a:rPr lang="en-US" smtClean="0"/>
              <a:t>4/25/2026</a:t>
            </a:fld>
            <a:endParaRPr lang="en-US"/>
          </a:p>
        </p:txBody>
      </p:sp>
      <p:sp>
        <p:nvSpPr>
          <p:cNvPr id="5" name="Footer Placeholder 4">
            <a:extLst>
              <a:ext uri="{FF2B5EF4-FFF2-40B4-BE49-F238E27FC236}">
                <a16:creationId xmlns:a16="http://schemas.microsoft.com/office/drawing/2014/main" id="{242F6EF1-C2BF-E0B8-5AD2-1E80894A92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3C3E5B-79C1-F551-EB78-424972E416AB}"/>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362975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FA2CF-D4B2-C0EA-7D8B-9997981DFC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8EC816-FAB0-61B5-B8A9-3CEEDE3AC6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6888030-9606-40F3-F568-569861E67B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26BC2E-18CA-513E-BBD3-A4A6A46824FE}"/>
              </a:ext>
            </a:extLst>
          </p:cNvPr>
          <p:cNvSpPr>
            <a:spLocks noGrp="1"/>
          </p:cNvSpPr>
          <p:nvPr>
            <p:ph type="dt" sz="half" idx="10"/>
          </p:nvPr>
        </p:nvSpPr>
        <p:spPr/>
        <p:txBody>
          <a:bodyPr/>
          <a:lstStyle/>
          <a:p>
            <a:fld id="{E457CA91-FD83-4EFE-93EA-63992C03614F}" type="datetime1">
              <a:rPr lang="en-US" smtClean="0"/>
              <a:t>4/25/2026</a:t>
            </a:fld>
            <a:endParaRPr lang="en-US"/>
          </a:p>
        </p:txBody>
      </p:sp>
      <p:sp>
        <p:nvSpPr>
          <p:cNvPr id="6" name="Footer Placeholder 5">
            <a:extLst>
              <a:ext uri="{FF2B5EF4-FFF2-40B4-BE49-F238E27FC236}">
                <a16:creationId xmlns:a16="http://schemas.microsoft.com/office/drawing/2014/main" id="{7610C424-8EE7-DCF3-92CA-9943CA217B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B02771-6578-A3F3-2DE5-957F26935FA9}"/>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1846501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A56EB-15F3-DA5A-FC5F-C8A9854DFC2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44F55B3-769C-0F68-56E4-09A31651F0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9390E3-482E-14E5-E93E-3EFDFCA024C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A5F7FD4-A0A2-100E-247B-0439DA6A8E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B19785-7F9E-F7E7-9989-FBA2A2436A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99BF4CB-4B11-6795-84C1-91B139428AEE}"/>
              </a:ext>
            </a:extLst>
          </p:cNvPr>
          <p:cNvSpPr>
            <a:spLocks noGrp="1"/>
          </p:cNvSpPr>
          <p:nvPr>
            <p:ph type="dt" sz="half" idx="10"/>
          </p:nvPr>
        </p:nvSpPr>
        <p:spPr/>
        <p:txBody>
          <a:bodyPr/>
          <a:lstStyle/>
          <a:p>
            <a:fld id="{07D6C43A-13E2-48A2-BAE5-CC73887FC199}" type="datetime1">
              <a:rPr lang="en-US" smtClean="0"/>
              <a:t>4/25/2026</a:t>
            </a:fld>
            <a:endParaRPr lang="en-US"/>
          </a:p>
        </p:txBody>
      </p:sp>
      <p:sp>
        <p:nvSpPr>
          <p:cNvPr id="8" name="Footer Placeholder 7">
            <a:extLst>
              <a:ext uri="{FF2B5EF4-FFF2-40B4-BE49-F238E27FC236}">
                <a16:creationId xmlns:a16="http://schemas.microsoft.com/office/drawing/2014/main" id="{F52FCB82-5972-D333-E21C-DF24F6BCF49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F12211A-324E-9069-32B0-8F509730AD76}"/>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3342088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0A965-A2B0-80BB-C6BA-CCCFA272AED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F0A2016-FBBB-4A1F-6F9E-FE6A63DE4832}"/>
              </a:ext>
            </a:extLst>
          </p:cNvPr>
          <p:cNvSpPr>
            <a:spLocks noGrp="1"/>
          </p:cNvSpPr>
          <p:nvPr>
            <p:ph type="dt" sz="half" idx="10"/>
          </p:nvPr>
        </p:nvSpPr>
        <p:spPr/>
        <p:txBody>
          <a:bodyPr/>
          <a:lstStyle/>
          <a:p>
            <a:fld id="{4EA2C5D3-416C-4131-8BC9-E71DA97D5A64}" type="datetime1">
              <a:rPr lang="en-US" smtClean="0"/>
              <a:t>4/25/2026</a:t>
            </a:fld>
            <a:endParaRPr lang="en-US"/>
          </a:p>
        </p:txBody>
      </p:sp>
      <p:sp>
        <p:nvSpPr>
          <p:cNvPr id="4" name="Footer Placeholder 3">
            <a:extLst>
              <a:ext uri="{FF2B5EF4-FFF2-40B4-BE49-F238E27FC236}">
                <a16:creationId xmlns:a16="http://schemas.microsoft.com/office/drawing/2014/main" id="{EBE845DF-F961-5466-32C3-C6385060CC2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6E057F6-928A-6D9F-4161-C04DEAA83D65}"/>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0759743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B366D7-6680-4FD6-C029-DC5C0BB2354F}"/>
              </a:ext>
            </a:extLst>
          </p:cNvPr>
          <p:cNvSpPr>
            <a:spLocks noGrp="1"/>
          </p:cNvSpPr>
          <p:nvPr>
            <p:ph type="dt" sz="half" idx="10"/>
          </p:nvPr>
        </p:nvSpPr>
        <p:spPr/>
        <p:txBody>
          <a:bodyPr/>
          <a:lstStyle/>
          <a:p>
            <a:fld id="{B8971593-8386-48B7-BB85-87C0949B2086}" type="datetime1">
              <a:rPr lang="en-US" smtClean="0"/>
              <a:t>4/25/2026</a:t>
            </a:fld>
            <a:endParaRPr lang="en-US"/>
          </a:p>
        </p:txBody>
      </p:sp>
      <p:sp>
        <p:nvSpPr>
          <p:cNvPr id="3" name="Footer Placeholder 2">
            <a:extLst>
              <a:ext uri="{FF2B5EF4-FFF2-40B4-BE49-F238E27FC236}">
                <a16:creationId xmlns:a16="http://schemas.microsoft.com/office/drawing/2014/main" id="{94179984-8567-91CB-0310-29A3752B78B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22C7A0D-606C-3BF9-8DBE-908D80966AD1}"/>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799376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684C1-8596-31A1-180D-C7EC5332BB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13762C2-B7CC-ADA3-9D39-3541B3FE5A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35A5F9-7E68-401F-C3BB-09FB74F82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5F73E6-ECB8-2943-41D8-05812D848AD3}"/>
              </a:ext>
            </a:extLst>
          </p:cNvPr>
          <p:cNvSpPr>
            <a:spLocks noGrp="1"/>
          </p:cNvSpPr>
          <p:nvPr>
            <p:ph type="dt" sz="half" idx="10"/>
          </p:nvPr>
        </p:nvSpPr>
        <p:spPr/>
        <p:txBody>
          <a:bodyPr/>
          <a:lstStyle/>
          <a:p>
            <a:fld id="{3070F398-88D3-4D2F-9F7E-785BF8AD0274}" type="datetime1">
              <a:rPr lang="en-US" smtClean="0"/>
              <a:t>4/25/2026</a:t>
            </a:fld>
            <a:endParaRPr lang="en-US"/>
          </a:p>
        </p:txBody>
      </p:sp>
      <p:sp>
        <p:nvSpPr>
          <p:cNvPr id="6" name="Footer Placeholder 5">
            <a:extLst>
              <a:ext uri="{FF2B5EF4-FFF2-40B4-BE49-F238E27FC236}">
                <a16:creationId xmlns:a16="http://schemas.microsoft.com/office/drawing/2014/main" id="{D86B5AF7-95CA-05D2-1119-F667C7B6F8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599C23-C916-AE53-9371-42CF3819D0E1}"/>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1574991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9AC56-39A4-2278-722C-617F9F770A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1FAD1B2-1942-74FB-C400-0DB0C13B90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DA8F38-E9BE-47E4-7662-3CD4AECCB2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28AE0B-2CCA-EDA3-1B80-8F2E1DF84CA6}"/>
              </a:ext>
            </a:extLst>
          </p:cNvPr>
          <p:cNvSpPr>
            <a:spLocks noGrp="1"/>
          </p:cNvSpPr>
          <p:nvPr>
            <p:ph type="dt" sz="half" idx="10"/>
          </p:nvPr>
        </p:nvSpPr>
        <p:spPr/>
        <p:txBody>
          <a:bodyPr/>
          <a:lstStyle/>
          <a:p>
            <a:fld id="{CE1A94C1-07AC-4775-8A4F-70BB05306BF7}" type="datetime1">
              <a:rPr lang="en-US" smtClean="0"/>
              <a:t>4/25/2026</a:t>
            </a:fld>
            <a:endParaRPr lang="en-US"/>
          </a:p>
        </p:txBody>
      </p:sp>
      <p:sp>
        <p:nvSpPr>
          <p:cNvPr id="6" name="Footer Placeholder 5">
            <a:extLst>
              <a:ext uri="{FF2B5EF4-FFF2-40B4-BE49-F238E27FC236}">
                <a16:creationId xmlns:a16="http://schemas.microsoft.com/office/drawing/2014/main" id="{2FDB1342-9AFD-57F0-2E90-76ECCEAFA3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E180B8-E20A-6138-1A1C-1E980CAD40A5}"/>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969494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050B6-05B4-E3FE-22C0-B823946C349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534B519-CE0F-EF5E-0363-067F1B0DB1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E2CA70-5E41-1433-D1D4-58B7EECA7D33}"/>
              </a:ext>
            </a:extLst>
          </p:cNvPr>
          <p:cNvSpPr>
            <a:spLocks noGrp="1"/>
          </p:cNvSpPr>
          <p:nvPr>
            <p:ph type="dt" sz="half" idx="10"/>
          </p:nvPr>
        </p:nvSpPr>
        <p:spPr/>
        <p:txBody>
          <a:bodyPr/>
          <a:lstStyle/>
          <a:p>
            <a:fld id="{850BF149-3A71-4B38-9BDE-7A4D7C7AB1AD}" type="datetime1">
              <a:rPr lang="en-US" smtClean="0"/>
              <a:t>4/25/2026</a:t>
            </a:fld>
            <a:endParaRPr lang="en-US"/>
          </a:p>
        </p:txBody>
      </p:sp>
      <p:sp>
        <p:nvSpPr>
          <p:cNvPr id="5" name="Footer Placeholder 4">
            <a:extLst>
              <a:ext uri="{FF2B5EF4-FFF2-40B4-BE49-F238E27FC236}">
                <a16:creationId xmlns:a16="http://schemas.microsoft.com/office/drawing/2014/main" id="{4A27E013-1DD3-69EC-2DB2-F95CD3491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12FAA7-8459-22BB-DD92-45D2DCDBB7A1}"/>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84219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665F096-56EB-9C2E-FB81-FEE0A0CAD97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F2D9855-6F39-E67A-6BE9-0AC527E972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C113E1-9951-703E-A152-D5CEEC0EEDDB}"/>
              </a:ext>
            </a:extLst>
          </p:cNvPr>
          <p:cNvSpPr>
            <a:spLocks noGrp="1"/>
          </p:cNvSpPr>
          <p:nvPr>
            <p:ph type="dt" sz="half" idx="10"/>
          </p:nvPr>
        </p:nvSpPr>
        <p:spPr/>
        <p:txBody>
          <a:bodyPr/>
          <a:lstStyle/>
          <a:p>
            <a:fld id="{25415CF1-83E4-4056-B983-BD617F30DAFA}" type="datetime1">
              <a:rPr lang="en-US" smtClean="0"/>
              <a:t>4/25/2026</a:t>
            </a:fld>
            <a:endParaRPr lang="en-US"/>
          </a:p>
        </p:txBody>
      </p:sp>
      <p:sp>
        <p:nvSpPr>
          <p:cNvPr id="5" name="Footer Placeholder 4">
            <a:extLst>
              <a:ext uri="{FF2B5EF4-FFF2-40B4-BE49-F238E27FC236}">
                <a16:creationId xmlns:a16="http://schemas.microsoft.com/office/drawing/2014/main" id="{A7463D87-637E-E53B-45EF-5E53B2925E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5677AB-ED08-1C04-AEC4-B8B3B85BC40F}"/>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996424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4DB59C-E06D-9064-D0E9-EE878347C8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03B2644-B987-EA40-64D1-C253A45B0A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BC9483-BDE6-AF2E-5EF6-5FD8C63DA8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FA37CB-3111-4E43-978B-840B0C3E984E}" type="datetime1">
              <a:rPr lang="en-US" smtClean="0"/>
              <a:t>4/25/2026</a:t>
            </a:fld>
            <a:endParaRPr lang="en-US"/>
          </a:p>
        </p:txBody>
      </p:sp>
      <p:sp>
        <p:nvSpPr>
          <p:cNvPr id="5" name="Footer Placeholder 4">
            <a:extLst>
              <a:ext uri="{FF2B5EF4-FFF2-40B4-BE49-F238E27FC236}">
                <a16:creationId xmlns:a16="http://schemas.microsoft.com/office/drawing/2014/main" id="{E6345DA1-9E37-8BE4-5FD8-3086239736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9C78D0E-8A6B-A368-9312-1F3C29DDBA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CEF87E-815D-44D1-B0AB-39AF0402D6A8}" type="slidenum">
              <a:rPr lang="en-US" smtClean="0"/>
              <a:t>‹#›</a:t>
            </a:fld>
            <a:endParaRPr lang="en-US"/>
          </a:p>
        </p:txBody>
      </p:sp>
    </p:spTree>
    <p:extLst>
      <p:ext uri="{BB962C8B-B14F-4D97-AF65-F5344CB8AC3E}">
        <p14:creationId xmlns:p14="http://schemas.microsoft.com/office/powerpoint/2010/main" val="36965271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1drv.ms/b/c/006e10d139b1534c/IQAlfoUJ46PQSrRbm5O0lkUIARj2UxkmFiYuRTJKf3yDti4?e=joTA8E" TargetMode="External"/><Relationship Id="rId2" Type="http://schemas.openxmlformats.org/officeDocument/2006/relationships/hyperlink" Target="https://github.com/sbhavatharini0110-web/ML_MINIPROJECT/tree/main" TargetMode="External"/><Relationship Id="rId1" Type="http://schemas.openxmlformats.org/officeDocument/2006/relationships/slideLayout" Target="../slideLayouts/slideLayout2.xml"/><Relationship Id="rId4" Type="http://schemas.openxmlformats.org/officeDocument/2006/relationships/hyperlink" Target="https://1drv.ms/p/c/006e10d139b1534c/IQDTMFhjNFgORZGlZvZCvH4iAb9qG6IZn-bsLjsEsqFslxw?e=AH6Tck"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geeksforgeeks.org/machine-learning/" TargetMode="External"/><Relationship Id="rId2" Type="http://schemas.openxmlformats.org/officeDocument/2006/relationships/hyperlink" Target="https://scikit-learn.org/stable/" TargetMode="External"/><Relationship Id="rId1" Type="http://schemas.openxmlformats.org/officeDocument/2006/relationships/slideLayout" Target="../slideLayouts/slideLayout2.xml"/><Relationship Id="rId4" Type="http://schemas.openxmlformats.org/officeDocument/2006/relationships/hyperlink" Target="https://towardsdatascience.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7F15FA6-086D-491A-B175-0CA4656FBDCB}"/>
              </a:ext>
            </a:extLst>
          </p:cNvPr>
          <p:cNvPicPr/>
          <p:nvPr/>
        </p:nvPicPr>
        <p:blipFill>
          <a:blip r:embed="rId2" cstate="print"/>
          <a:srcRect l="21229" t="27213" r="21523" b="35253"/>
          <a:stretch>
            <a:fillRect/>
          </a:stretch>
        </p:blipFill>
        <p:spPr bwMode="auto">
          <a:xfrm>
            <a:off x="3256548" y="136525"/>
            <a:ext cx="4776536" cy="834189"/>
          </a:xfrm>
          <a:prstGeom prst="rect">
            <a:avLst/>
          </a:prstGeom>
          <a:ln>
            <a:headEnd/>
            <a:tailEnd type="none" w="med" len="med"/>
          </a:ln>
        </p:spPr>
        <p:style>
          <a:lnRef idx="1">
            <a:schemeClr val="accent2"/>
          </a:lnRef>
          <a:fillRef idx="3">
            <a:schemeClr val="accent2"/>
          </a:fillRef>
          <a:effectRef idx="2">
            <a:schemeClr val="accent2"/>
          </a:effectRef>
          <a:fontRef idx="minor">
            <a:schemeClr val="lt1"/>
          </a:fontRef>
        </p:style>
      </p:pic>
      <p:sp>
        <p:nvSpPr>
          <p:cNvPr id="7" name="Title 6">
            <a:extLst>
              <a:ext uri="{FF2B5EF4-FFF2-40B4-BE49-F238E27FC236}">
                <a16:creationId xmlns:a16="http://schemas.microsoft.com/office/drawing/2014/main" id="{5BEE647A-5606-A6E5-93DB-A43A8FC2D88A}"/>
              </a:ext>
            </a:extLst>
          </p:cNvPr>
          <p:cNvSpPr>
            <a:spLocks noGrp="1"/>
          </p:cNvSpPr>
          <p:nvPr>
            <p:ph type="ctrTitle"/>
          </p:nvPr>
        </p:nvSpPr>
        <p:spPr>
          <a:xfrm>
            <a:off x="433138" y="1251284"/>
            <a:ext cx="10812378" cy="2458586"/>
          </a:xfrm>
        </p:spPr>
        <p:txBody>
          <a:bodyPr>
            <a:noAutofit/>
          </a:bodyPr>
          <a:lstStyle/>
          <a:p>
            <a:r>
              <a:rPr lang="en-GB" sz="2400" b="1" dirty="0">
                <a:latin typeface="Times New Roman" panose="02020603050405020304" pitchFamily="18" charset="0"/>
                <a:cs typeface="Times New Roman" panose="02020603050405020304" pitchFamily="18" charset="0"/>
              </a:rPr>
              <a:t>DEPARTMENT OF</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ARTIFICIAL INTELLIGENCE AND DATA SCIENCE</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ACADEMIC YEAR 2025 - 2026</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SEMESTER IV</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ARTIFICIAL INTELLIGENCE LABORATORY</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	</a:t>
            </a:r>
            <a:r>
              <a:rPr lang="en-GB" sz="2400" b="1" dirty="0">
                <a:solidFill>
                  <a:srgbClr val="002060"/>
                </a:solidFill>
                <a:latin typeface="Times New Roman" panose="02020603050405020304" pitchFamily="18" charset="0"/>
                <a:cs typeface="Times New Roman" panose="02020603050405020304" pitchFamily="18" charset="0"/>
              </a:rPr>
              <a:t>MINI PROJECT REVIEW</a:t>
            </a:r>
            <a:r>
              <a:rPr lang="en-GB" sz="2400" dirty="0">
                <a:solidFill>
                  <a:srgbClr val="002060"/>
                </a:solidFill>
                <a:latin typeface="Times New Roman" panose="02020603050405020304" pitchFamily="18" charset="0"/>
                <a:cs typeface="Times New Roman" panose="02020603050405020304" pitchFamily="18" charset="0"/>
              </a:rPr>
              <a:t>	</a:t>
            </a:r>
            <a:br>
              <a:rPr lang="en-GB" sz="2400" dirty="0">
                <a:latin typeface="Times New Roman" panose="02020603050405020304" pitchFamily="18" charset="0"/>
                <a:cs typeface="Times New Roman" panose="02020603050405020304" pitchFamily="18" charset="0"/>
              </a:rPr>
            </a:b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        </a:t>
            </a:r>
            <a:r>
              <a:rPr lang="en-IN" sz="2000" b="1" dirty="0">
                <a:solidFill>
                  <a:srgbClr val="FF0000"/>
                </a:solidFill>
                <a:effectLst/>
                <a:latin typeface="Calibri" panose="020F0502020204030204" pitchFamily="34" charset="0"/>
                <a:ea typeface="Calibri" panose="020F0502020204030204" pitchFamily="34" charset="0"/>
              </a:rPr>
              <a:t>SMART PARKING SPACE AVAILABILITY PREDICTION USING RANDOM FOREST CLASSIFIER</a:t>
            </a:r>
            <a:r>
              <a:rPr lang="en-IN" sz="2000" dirty="0">
                <a:solidFill>
                  <a:srgbClr val="FF0000"/>
                </a:solidFill>
                <a:effectLst/>
                <a:latin typeface="Times New Roman" panose="02020603050405020304" pitchFamily="18" charset="0"/>
                <a:ea typeface="Times New Roman" panose="02020603050405020304" pitchFamily="18" charset="0"/>
              </a:rPr>
              <a:t> </a:t>
            </a:r>
            <a:endParaRPr lang="en-US" sz="20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B39E0012-B3AF-E718-6BBA-5D37629E4005}"/>
              </a:ext>
            </a:extLst>
          </p:cNvPr>
          <p:cNvGraphicFramePr>
            <a:graphicFrameLocks noGrp="1"/>
          </p:cNvGraphicFramePr>
          <p:nvPr>
            <p:extLst>
              <p:ext uri="{D42A27DB-BD31-4B8C-83A1-F6EECF244321}">
                <p14:modId xmlns:p14="http://schemas.microsoft.com/office/powerpoint/2010/main" val="3583057779"/>
              </p:ext>
            </p:extLst>
          </p:nvPr>
        </p:nvGraphicFramePr>
        <p:xfrm>
          <a:off x="2098841" y="3845961"/>
          <a:ext cx="8392696" cy="2458586"/>
        </p:xfrm>
        <a:graphic>
          <a:graphicData uri="http://schemas.openxmlformats.org/drawingml/2006/table">
            <a:tbl>
              <a:tblPr firstRow="1" bandRow="1">
                <a:tableStyleId>{21E4AEA4-8DFA-4A89-87EB-49C32662AFE0}</a:tableStyleId>
              </a:tblPr>
              <a:tblGrid>
                <a:gridCol w="2216485">
                  <a:extLst>
                    <a:ext uri="{9D8B030D-6E8A-4147-A177-3AD203B41FA5}">
                      <a16:colId xmlns:a16="http://schemas.microsoft.com/office/drawing/2014/main" val="1924387309"/>
                    </a:ext>
                  </a:extLst>
                </a:gridCol>
                <a:gridCol w="6176211">
                  <a:extLst>
                    <a:ext uri="{9D8B030D-6E8A-4147-A177-3AD203B41FA5}">
                      <a16:colId xmlns:a16="http://schemas.microsoft.com/office/drawing/2014/main" val="471423325"/>
                    </a:ext>
                  </a:extLst>
                </a:gridCol>
              </a:tblGrid>
              <a:tr h="486314">
                <a:tc>
                  <a:txBody>
                    <a:bodyPr/>
                    <a:lstStyle/>
                    <a:p>
                      <a:r>
                        <a:rPr lang="en-GB" b="1" dirty="0">
                          <a:solidFill>
                            <a:schemeClr val="tx1"/>
                          </a:solidFill>
                        </a:rPr>
                        <a:t>REGISTER NUMBER</a:t>
                      </a:r>
                      <a:endParaRPr lang="en-US" b="1" dirty="0">
                        <a:solidFill>
                          <a:schemeClr val="tx1"/>
                        </a:solidFill>
                      </a:endParaRPr>
                    </a:p>
                  </a:txBody>
                  <a:tcPr/>
                </a:tc>
                <a:tc>
                  <a:txBody>
                    <a:bodyPr/>
                    <a:lstStyle/>
                    <a:p>
                      <a:r>
                        <a:rPr lang="en-US" dirty="0">
                          <a:solidFill>
                            <a:schemeClr val="tx1"/>
                          </a:solidFill>
                        </a:rPr>
                        <a:t>2117240070039</a:t>
                      </a:r>
                    </a:p>
                  </a:txBody>
                  <a:tcPr/>
                </a:tc>
                <a:extLst>
                  <a:ext uri="{0D108BD9-81ED-4DB2-BD59-A6C34878D82A}">
                    <a16:rowId xmlns:a16="http://schemas.microsoft.com/office/drawing/2014/main" val="471703413"/>
                  </a:ext>
                </a:extLst>
              </a:tr>
              <a:tr h="493068">
                <a:tc>
                  <a:txBody>
                    <a:bodyPr/>
                    <a:lstStyle/>
                    <a:p>
                      <a:r>
                        <a:rPr lang="en-GB" b="1" dirty="0">
                          <a:solidFill>
                            <a:schemeClr val="tx1"/>
                          </a:solidFill>
                        </a:rPr>
                        <a:t>NAME</a:t>
                      </a:r>
                      <a:endParaRPr lang="en-US" b="1" dirty="0">
                        <a:solidFill>
                          <a:schemeClr val="tx1"/>
                        </a:solidFill>
                      </a:endParaRPr>
                    </a:p>
                  </a:txBody>
                  <a:tcPr/>
                </a:tc>
                <a:tc>
                  <a:txBody>
                    <a:bodyPr/>
                    <a:lstStyle/>
                    <a:p>
                      <a:r>
                        <a:rPr lang="en-US" b="1" dirty="0">
                          <a:solidFill>
                            <a:schemeClr val="tx1"/>
                          </a:solidFill>
                        </a:rPr>
                        <a:t>BHAVATHARINI.S</a:t>
                      </a:r>
                    </a:p>
                  </a:txBody>
                  <a:tcPr/>
                </a:tc>
                <a:extLst>
                  <a:ext uri="{0D108BD9-81ED-4DB2-BD59-A6C34878D82A}">
                    <a16:rowId xmlns:a16="http://schemas.microsoft.com/office/drawing/2014/main" val="2967366592"/>
                  </a:ext>
                </a:extLst>
              </a:tr>
              <a:tr h="493068">
                <a:tc>
                  <a:txBody>
                    <a:bodyPr/>
                    <a:lstStyle/>
                    <a:p>
                      <a:r>
                        <a:rPr lang="en-GB" b="1" dirty="0">
                          <a:solidFill>
                            <a:schemeClr val="tx1"/>
                          </a:solidFill>
                        </a:rPr>
                        <a:t>YEAR</a:t>
                      </a:r>
                      <a:endParaRPr lang="en-US" b="1" dirty="0">
                        <a:solidFill>
                          <a:schemeClr val="tx1"/>
                        </a:solidFill>
                      </a:endParaRPr>
                    </a:p>
                  </a:txBody>
                  <a:tcPr/>
                </a:tc>
                <a:tc>
                  <a:txBody>
                    <a:bodyPr/>
                    <a:lstStyle/>
                    <a:p>
                      <a:r>
                        <a:rPr lang="en-US" b="1" dirty="0">
                          <a:solidFill>
                            <a:schemeClr val="tx1"/>
                          </a:solidFill>
                        </a:rPr>
                        <a:t>II</a:t>
                      </a:r>
                    </a:p>
                  </a:txBody>
                  <a:tcPr/>
                </a:tc>
                <a:extLst>
                  <a:ext uri="{0D108BD9-81ED-4DB2-BD59-A6C34878D82A}">
                    <a16:rowId xmlns:a16="http://schemas.microsoft.com/office/drawing/2014/main" val="3106965190"/>
                  </a:ext>
                </a:extLst>
              </a:tr>
              <a:tr h="493068">
                <a:tc>
                  <a:txBody>
                    <a:bodyPr/>
                    <a:lstStyle/>
                    <a:p>
                      <a:r>
                        <a:rPr lang="en-GB" b="1" dirty="0">
                          <a:solidFill>
                            <a:schemeClr val="tx1"/>
                          </a:solidFill>
                        </a:rPr>
                        <a:t>SECTION</a:t>
                      </a:r>
                      <a:endParaRPr lang="en-US" b="1" dirty="0">
                        <a:solidFill>
                          <a:schemeClr val="tx1"/>
                        </a:solidFill>
                      </a:endParaRPr>
                    </a:p>
                  </a:txBody>
                  <a:tcPr/>
                </a:tc>
                <a:tc>
                  <a:txBody>
                    <a:bodyPr/>
                    <a:lstStyle/>
                    <a:p>
                      <a:r>
                        <a:rPr lang="en-US" b="1" dirty="0">
                          <a:solidFill>
                            <a:schemeClr val="tx1"/>
                          </a:solidFill>
                        </a:rPr>
                        <a:t>A</a:t>
                      </a:r>
                    </a:p>
                  </a:txBody>
                  <a:tcPr/>
                </a:tc>
                <a:extLst>
                  <a:ext uri="{0D108BD9-81ED-4DB2-BD59-A6C34878D82A}">
                    <a16:rowId xmlns:a16="http://schemas.microsoft.com/office/drawing/2014/main" val="3234068443"/>
                  </a:ext>
                </a:extLst>
              </a:tr>
              <a:tr h="493068">
                <a:tc>
                  <a:txBody>
                    <a:bodyPr/>
                    <a:lstStyle/>
                    <a:p>
                      <a:r>
                        <a:rPr lang="en-GB" b="1" dirty="0">
                          <a:solidFill>
                            <a:schemeClr val="tx1"/>
                          </a:solidFill>
                        </a:rPr>
                        <a:t>FACULTY IN-CHARGE</a:t>
                      </a:r>
                      <a:endParaRPr lang="en-US" b="1" dirty="0">
                        <a:solidFill>
                          <a:schemeClr val="tx1"/>
                        </a:solidFill>
                      </a:endParaRPr>
                    </a:p>
                  </a:txBody>
                  <a:tcPr/>
                </a:tc>
                <a:tc>
                  <a:txBody>
                    <a:bodyPr/>
                    <a:lstStyle/>
                    <a:p>
                      <a:r>
                        <a:rPr lang="en-GB" b="1" dirty="0"/>
                        <a:t>Mrs. M. Divya</a:t>
                      </a:r>
                      <a:endParaRPr lang="en-US" b="1" dirty="0"/>
                    </a:p>
                  </a:txBody>
                  <a:tcPr/>
                </a:tc>
                <a:extLst>
                  <a:ext uri="{0D108BD9-81ED-4DB2-BD59-A6C34878D82A}">
                    <a16:rowId xmlns:a16="http://schemas.microsoft.com/office/drawing/2014/main" val="3536199969"/>
                  </a:ext>
                </a:extLst>
              </a:tr>
            </a:tbl>
          </a:graphicData>
        </a:graphic>
      </p:graphicFrame>
      <p:sp>
        <p:nvSpPr>
          <p:cNvPr id="12" name="Date Placeholder 11">
            <a:extLst>
              <a:ext uri="{FF2B5EF4-FFF2-40B4-BE49-F238E27FC236}">
                <a16:creationId xmlns:a16="http://schemas.microsoft.com/office/drawing/2014/main" id="{6B174A57-15CE-2FFD-86D9-B7E84692480D}"/>
              </a:ext>
            </a:extLst>
          </p:cNvPr>
          <p:cNvSpPr>
            <a:spLocks noGrp="1"/>
          </p:cNvSpPr>
          <p:nvPr>
            <p:ph type="dt" sz="half" idx="10"/>
          </p:nvPr>
        </p:nvSpPr>
        <p:spPr/>
        <p:txBody>
          <a:bodyPr/>
          <a:lstStyle/>
          <a:p>
            <a:fld id="{F9B0B098-7844-408D-9BB3-6B083FBEE8AA}" type="datetime1">
              <a:rPr lang="en-US" smtClean="0"/>
              <a:t>4/25/2026</a:t>
            </a:fld>
            <a:endParaRPr lang="en-US"/>
          </a:p>
        </p:txBody>
      </p:sp>
      <p:sp>
        <p:nvSpPr>
          <p:cNvPr id="13" name="Slide Number Placeholder 12">
            <a:extLst>
              <a:ext uri="{FF2B5EF4-FFF2-40B4-BE49-F238E27FC236}">
                <a16:creationId xmlns:a16="http://schemas.microsoft.com/office/drawing/2014/main" id="{E4873981-939E-932D-DBE2-6B02CC92B85F}"/>
              </a:ext>
            </a:extLst>
          </p:cNvPr>
          <p:cNvSpPr>
            <a:spLocks noGrp="1"/>
          </p:cNvSpPr>
          <p:nvPr>
            <p:ph type="sldNum" sz="quarter" idx="12"/>
          </p:nvPr>
        </p:nvSpPr>
        <p:spPr/>
        <p:txBody>
          <a:bodyPr/>
          <a:lstStyle/>
          <a:p>
            <a:fld id="{1FCEF87E-815D-44D1-B0AB-39AF0402D6A8}" type="slidenum">
              <a:rPr lang="en-US" smtClean="0"/>
              <a:t>1</a:t>
            </a:fld>
            <a:endParaRPr lang="en-US"/>
          </a:p>
        </p:txBody>
      </p:sp>
    </p:spTree>
    <p:extLst>
      <p:ext uri="{BB962C8B-B14F-4D97-AF65-F5344CB8AC3E}">
        <p14:creationId xmlns:p14="http://schemas.microsoft.com/office/powerpoint/2010/main" val="2720793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E759A-0732-65F8-ABFC-93E81441B8A8}"/>
              </a:ext>
            </a:extLst>
          </p:cNvPr>
          <p:cNvSpPr>
            <a:spLocks noGrp="1"/>
          </p:cNvSpPr>
          <p:nvPr>
            <p:ph type="title"/>
          </p:nvPr>
        </p:nvSpPr>
        <p:spPr>
          <a:xfrm>
            <a:off x="0" y="35509"/>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PROBLEM STATEMENT</a:t>
            </a:r>
            <a:endParaRPr lang="en-US" dirty="0">
              <a:solidFill>
                <a:schemeClr val="tx1"/>
              </a:solidFill>
            </a:endParaRPr>
          </a:p>
        </p:txBody>
      </p:sp>
      <p:sp>
        <p:nvSpPr>
          <p:cNvPr id="4" name="Date Placeholder 3">
            <a:extLst>
              <a:ext uri="{FF2B5EF4-FFF2-40B4-BE49-F238E27FC236}">
                <a16:creationId xmlns:a16="http://schemas.microsoft.com/office/drawing/2014/main" id="{85FF5BCC-B36E-DFE5-103F-31FA12632094}"/>
              </a:ext>
            </a:extLst>
          </p:cNvPr>
          <p:cNvSpPr>
            <a:spLocks noGrp="1"/>
          </p:cNvSpPr>
          <p:nvPr>
            <p:ph type="dt" sz="half" idx="10"/>
          </p:nvPr>
        </p:nvSpPr>
        <p:spPr/>
        <p:txBody>
          <a:bodyPr/>
          <a:lstStyle/>
          <a:p>
            <a:fld id="{316FBEDF-053F-468F-8CCF-D1ACE4FBB50D}" type="datetime1">
              <a:rPr lang="en-US" smtClean="0"/>
              <a:t>4/25/2026</a:t>
            </a:fld>
            <a:endParaRPr lang="en-US"/>
          </a:p>
        </p:txBody>
      </p:sp>
      <p:sp>
        <p:nvSpPr>
          <p:cNvPr id="5" name="Slide Number Placeholder 4">
            <a:extLst>
              <a:ext uri="{FF2B5EF4-FFF2-40B4-BE49-F238E27FC236}">
                <a16:creationId xmlns:a16="http://schemas.microsoft.com/office/drawing/2014/main" id="{70253399-F526-B4B1-D444-32B3A164A39F}"/>
              </a:ext>
            </a:extLst>
          </p:cNvPr>
          <p:cNvSpPr>
            <a:spLocks noGrp="1"/>
          </p:cNvSpPr>
          <p:nvPr>
            <p:ph type="sldNum" sz="quarter" idx="12"/>
          </p:nvPr>
        </p:nvSpPr>
        <p:spPr/>
        <p:txBody>
          <a:bodyPr/>
          <a:lstStyle/>
          <a:p>
            <a:fld id="{1FCEF87E-815D-44D1-B0AB-39AF0402D6A8}" type="slidenum">
              <a:rPr lang="en-US" smtClean="0"/>
              <a:t>2</a:t>
            </a:fld>
            <a:endParaRPr lang="en-US"/>
          </a:p>
        </p:txBody>
      </p:sp>
      <p:sp>
        <p:nvSpPr>
          <p:cNvPr id="7" name="Rectangle 2">
            <a:extLst>
              <a:ext uri="{FF2B5EF4-FFF2-40B4-BE49-F238E27FC236}">
                <a16:creationId xmlns:a16="http://schemas.microsoft.com/office/drawing/2014/main" id="{7F553D06-5BAC-3585-D9F5-D3CB999BBA82}"/>
              </a:ext>
            </a:extLst>
          </p:cNvPr>
          <p:cNvSpPr>
            <a:spLocks noGrp="1" noChangeArrowheads="1"/>
          </p:cNvSpPr>
          <p:nvPr>
            <p:ph idx="1"/>
          </p:nvPr>
        </p:nvSpPr>
        <p:spPr bwMode="auto">
          <a:xfrm>
            <a:off x="-914630" y="1029238"/>
            <a:ext cx="13571850" cy="5793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904875" marR="370205" indent="0">
              <a:lnSpc>
                <a:spcPct val="105000"/>
              </a:lnSpc>
              <a:spcAft>
                <a:spcPts val="1300"/>
              </a:spcAft>
              <a:buNone/>
            </a:pPr>
            <a:r>
              <a:rPr lang="en-IN" sz="1800" dirty="0">
                <a:solidFill>
                  <a:srgbClr val="000000"/>
                </a:solidFill>
                <a:effectLst/>
                <a:latin typeface="Times New Roman" panose="02020603050405020304" pitchFamily="18" charset="0"/>
                <a:ea typeface="Times New Roman" panose="02020603050405020304" pitchFamily="18" charset="0"/>
              </a:rPr>
              <a:t>In urban areas, finding an available parking space has become a challenging and time-consuming task due to the rapid increase in the number of vehicles. Drivers often struggle with uncertainty regarding parking availability, leading to traffic congestion, fuel wastage, and delays. To address this issue, this project titled </a:t>
            </a:r>
            <a:r>
              <a:rPr lang="en-IN" sz="1800" b="1" dirty="0">
                <a:solidFill>
                  <a:srgbClr val="000000"/>
                </a:solidFill>
                <a:effectLst/>
                <a:latin typeface="Times New Roman" panose="02020603050405020304" pitchFamily="18" charset="0"/>
                <a:ea typeface="Times New Roman" panose="02020603050405020304" pitchFamily="18" charset="0"/>
              </a:rPr>
              <a:t>“Smart Parking Space Availability Prediction using Random Forest Classifier”</a:t>
            </a:r>
            <a:r>
              <a:rPr lang="en-IN" sz="1800" dirty="0">
                <a:solidFill>
                  <a:srgbClr val="000000"/>
                </a:solidFill>
                <a:effectLst/>
                <a:latin typeface="Times New Roman" panose="02020603050405020304" pitchFamily="18" charset="0"/>
                <a:ea typeface="Times New Roman" panose="02020603050405020304" pitchFamily="18" charset="0"/>
              </a:rPr>
              <a:t> aims to develop an intelligent system that can predict whether a parking space is available or not.   </a:t>
            </a:r>
          </a:p>
          <a:p>
            <a:pPr marL="904875" marR="370205" indent="0">
              <a:lnSpc>
                <a:spcPct val="105000"/>
              </a:lnSpc>
              <a:spcAft>
                <a:spcPts val="1300"/>
              </a:spcAft>
              <a:buNone/>
            </a:pPr>
            <a:r>
              <a:rPr lang="en-IN" sz="1800" dirty="0">
                <a:solidFill>
                  <a:srgbClr val="000000"/>
                </a:solidFill>
                <a:effectLst/>
                <a:latin typeface="Times New Roman" panose="02020603050405020304" pitchFamily="18" charset="0"/>
                <a:ea typeface="Times New Roman" panose="02020603050405020304" pitchFamily="18" charset="0"/>
              </a:rPr>
              <a:t>The proposed system uses Machine Learning techniques to </a:t>
            </a:r>
            <a:r>
              <a:rPr lang="en-IN" sz="1800" dirty="0" err="1">
                <a:solidFill>
                  <a:srgbClr val="000000"/>
                </a:solidFill>
                <a:effectLst/>
                <a:latin typeface="Times New Roman" panose="02020603050405020304" pitchFamily="18" charset="0"/>
                <a:ea typeface="Times New Roman" panose="02020603050405020304" pitchFamily="18" charset="0"/>
              </a:rPr>
              <a:t>analyze</a:t>
            </a:r>
            <a:r>
              <a:rPr lang="en-IN" sz="1800" dirty="0">
                <a:solidFill>
                  <a:srgbClr val="000000"/>
                </a:solidFill>
                <a:effectLst/>
                <a:latin typeface="Times New Roman" panose="02020603050405020304" pitchFamily="18" charset="0"/>
                <a:ea typeface="Times New Roman" panose="02020603050405020304" pitchFamily="18" charset="0"/>
              </a:rPr>
              <a:t> factors such as time of day, day type, and vehicle count to make accurate predictions. By implementing the Random Forest Classifier, the model learns patterns from historical data and provides reliable outputs, helping users make better parking decisions and improving overall efficiency in parking management. </a:t>
            </a:r>
          </a:p>
          <a:p>
            <a:pPr marL="904875" marR="370205" indent="0">
              <a:lnSpc>
                <a:spcPct val="105000"/>
              </a:lnSpc>
              <a:spcAft>
                <a:spcPts val="1300"/>
              </a:spcAft>
              <a:buNone/>
            </a:pPr>
            <a:r>
              <a:rPr lang="en-IN" sz="1800" dirty="0">
                <a:solidFill>
                  <a:srgbClr val="000000"/>
                </a:solidFill>
                <a:effectLst/>
                <a:latin typeface="Times New Roman" panose="02020603050405020304" pitchFamily="18" charset="0"/>
                <a:ea typeface="Times New Roman" panose="02020603050405020304" pitchFamily="18" charset="0"/>
              </a:rPr>
              <a:t>Another key challenge in parking management is the lack of real-time and predictive insights that can assist users in making efficient decisions. Traditional parking systems rely heavily on manual observation or static information, which does not adapt to changing conditions such as peak hours or varying traffic density. </a:t>
            </a:r>
          </a:p>
          <a:p>
            <a:pPr marL="904875" marR="370205" indent="0">
              <a:lnSpc>
                <a:spcPct val="105000"/>
              </a:lnSpc>
              <a:spcAft>
                <a:spcPts val="1300"/>
              </a:spcAft>
              <a:buNone/>
            </a:pPr>
            <a:r>
              <a:rPr lang="en-IN" sz="1800" dirty="0">
                <a:solidFill>
                  <a:srgbClr val="000000"/>
                </a:solidFill>
                <a:effectLst/>
                <a:latin typeface="Times New Roman" panose="02020603050405020304" pitchFamily="18" charset="0"/>
                <a:ea typeface="Times New Roman" panose="02020603050405020304" pitchFamily="18" charset="0"/>
              </a:rPr>
              <a:t> This creates inefficiencies in urban mobility and increases the overall burden on transportation systems. Therefore, there is a strong need for an intelligent, data-driven solution that can </a:t>
            </a:r>
            <a:r>
              <a:rPr lang="en-IN" sz="1800" dirty="0" err="1">
                <a:solidFill>
                  <a:srgbClr val="000000"/>
                </a:solidFill>
                <a:effectLst/>
                <a:latin typeface="Times New Roman" panose="02020603050405020304" pitchFamily="18" charset="0"/>
                <a:ea typeface="Times New Roman" panose="02020603050405020304" pitchFamily="18" charset="0"/>
              </a:rPr>
              <a:t>analyze</a:t>
            </a:r>
            <a:r>
              <a:rPr lang="en-IN" sz="1800" dirty="0">
                <a:solidFill>
                  <a:srgbClr val="000000"/>
                </a:solidFill>
                <a:effectLst/>
                <a:latin typeface="Times New Roman" panose="02020603050405020304" pitchFamily="18" charset="0"/>
                <a:ea typeface="Times New Roman" panose="02020603050405020304" pitchFamily="18" charset="0"/>
              </a:rPr>
              <a:t> patterns and provide accurate predictions of parking availability, enabling better utilization of parking resources and improving the overall user experience.   </a:t>
            </a:r>
          </a:p>
          <a:p>
            <a:pPr marL="905510" marR="367665" indent="-6350">
              <a:lnSpc>
                <a:spcPct val="107000"/>
              </a:lnSpc>
              <a:spcAft>
                <a:spcPts val="1260"/>
              </a:spcAft>
            </a:pPr>
            <a:endParaRPr lang="en-IN" sz="1800" dirty="0">
              <a:solidFill>
                <a:srgbClr val="000000"/>
              </a:solidFill>
              <a:effectLst/>
              <a:latin typeface="Times New Roman" panose="02020603050405020304" pitchFamily="18"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16614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CC068-5F54-97E8-2F1C-0538F11269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B2B1AF-B7ED-6DDA-888D-9BCAF08EA5E4}"/>
              </a:ext>
            </a:extLst>
          </p:cNvPr>
          <p:cNvSpPr>
            <a:spLocks noGrp="1"/>
          </p:cNvSpPr>
          <p:nvPr>
            <p:ph type="title"/>
          </p:nvPr>
        </p:nvSpPr>
        <p:spPr>
          <a:xfrm>
            <a:off x="0" y="35509"/>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dirty="0">
                <a:solidFill>
                  <a:schemeClr val="tx1"/>
                </a:solidFill>
              </a:rPr>
              <a:t>THEORETICAL BACKGROUND</a:t>
            </a:r>
            <a:endParaRPr lang="en-US" dirty="0">
              <a:solidFill>
                <a:schemeClr val="tx1"/>
              </a:solidFill>
            </a:endParaRPr>
          </a:p>
        </p:txBody>
      </p:sp>
      <p:sp>
        <p:nvSpPr>
          <p:cNvPr id="4" name="Date Placeholder 3">
            <a:extLst>
              <a:ext uri="{FF2B5EF4-FFF2-40B4-BE49-F238E27FC236}">
                <a16:creationId xmlns:a16="http://schemas.microsoft.com/office/drawing/2014/main" id="{4AF593AB-ABA6-D8E8-42D9-A38FB7B4DB45}"/>
              </a:ext>
            </a:extLst>
          </p:cNvPr>
          <p:cNvSpPr>
            <a:spLocks noGrp="1"/>
          </p:cNvSpPr>
          <p:nvPr>
            <p:ph type="dt" sz="half" idx="10"/>
          </p:nvPr>
        </p:nvSpPr>
        <p:spPr/>
        <p:txBody>
          <a:bodyPr/>
          <a:lstStyle/>
          <a:p>
            <a:fld id="{316FBEDF-053F-468F-8CCF-D1ACE4FBB50D}" type="datetime1">
              <a:rPr lang="en-US" smtClean="0"/>
              <a:t>4/25/2026</a:t>
            </a:fld>
            <a:endParaRPr lang="en-US"/>
          </a:p>
        </p:txBody>
      </p:sp>
      <p:sp>
        <p:nvSpPr>
          <p:cNvPr id="5" name="Slide Number Placeholder 4">
            <a:extLst>
              <a:ext uri="{FF2B5EF4-FFF2-40B4-BE49-F238E27FC236}">
                <a16:creationId xmlns:a16="http://schemas.microsoft.com/office/drawing/2014/main" id="{40AE40CC-B05F-6325-A926-99504CD4A72F}"/>
              </a:ext>
            </a:extLst>
          </p:cNvPr>
          <p:cNvSpPr>
            <a:spLocks noGrp="1"/>
          </p:cNvSpPr>
          <p:nvPr>
            <p:ph type="sldNum" sz="quarter" idx="12"/>
          </p:nvPr>
        </p:nvSpPr>
        <p:spPr/>
        <p:txBody>
          <a:bodyPr/>
          <a:lstStyle/>
          <a:p>
            <a:fld id="{1FCEF87E-815D-44D1-B0AB-39AF0402D6A8}" type="slidenum">
              <a:rPr lang="en-US" smtClean="0"/>
              <a:t>3</a:t>
            </a:fld>
            <a:endParaRPr lang="en-US"/>
          </a:p>
        </p:txBody>
      </p:sp>
      <p:sp>
        <p:nvSpPr>
          <p:cNvPr id="6" name="Rectangle 1">
            <a:extLst>
              <a:ext uri="{FF2B5EF4-FFF2-40B4-BE49-F238E27FC236}">
                <a16:creationId xmlns:a16="http://schemas.microsoft.com/office/drawing/2014/main" id="{5E3A93A4-9FFA-AC76-A754-B50BCC602B7E}"/>
              </a:ext>
            </a:extLst>
          </p:cNvPr>
          <p:cNvSpPr>
            <a:spLocks noGrp="1" noChangeArrowheads="1"/>
          </p:cNvSpPr>
          <p:nvPr>
            <p:ph idx="1"/>
          </p:nvPr>
        </p:nvSpPr>
        <p:spPr bwMode="auto">
          <a:xfrm>
            <a:off x="838200" y="1070219"/>
            <a:ext cx="10817994" cy="4975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000" dirty="0">
                <a:latin typeface="Times New Roman" panose="02020603050405020304" pitchFamily="18" charset="0"/>
                <a:ea typeface="Nirmala Text" panose="020B0502040204020203" pitchFamily="34" charset="0"/>
                <a:cs typeface="Times New Roman" panose="02020603050405020304" pitchFamily="18" charset="0"/>
              </a:rPr>
              <a:t>Predicting parking space availability is an important application of Machine Learning in smart city systems. It uses historical data such as time, day type, and vehicle density to determine whether a parking space is available (1) or not (0), making it a binary classification problem. This helps reduce traffic congestion and improve user convenience.</a:t>
            </a:r>
          </a:p>
          <a:p>
            <a:pPr marL="0" indent="0">
              <a:buNone/>
            </a:pPr>
            <a:r>
              <a:rPr lang="en-US" sz="2000" dirty="0">
                <a:latin typeface="Times New Roman" panose="02020603050405020304" pitchFamily="18" charset="0"/>
                <a:ea typeface="Nirmala Text" panose="020B0502040204020203" pitchFamily="34" charset="0"/>
                <a:cs typeface="Times New Roman" panose="02020603050405020304" pitchFamily="18" charset="0"/>
              </a:rPr>
              <a:t>This project uses the Random Forest Classifier, an ensemble learning method that combines multiple decision trees to improve accuracy. Each tree is trained on different subsets of data, and the final prediction is based on majority voting:</a:t>
            </a:r>
            <a:br>
              <a:rPr lang="en-US" sz="2000" dirty="0">
                <a:latin typeface="Times New Roman" panose="02020603050405020304" pitchFamily="18" charset="0"/>
                <a:ea typeface="Nirmala Text" panose="020B0502040204020203" pitchFamily="34" charset="0"/>
                <a:cs typeface="Times New Roman" panose="02020603050405020304" pitchFamily="18" charset="0"/>
              </a:rPr>
            </a:br>
            <a:r>
              <a:rPr lang="en-US" sz="2000" dirty="0">
                <a:latin typeface="Times New Roman" panose="02020603050405020304" pitchFamily="18" charset="0"/>
                <a:ea typeface="Nirmala Text" panose="020B0502040204020203" pitchFamily="34" charset="0"/>
                <a:cs typeface="Times New Roman" panose="02020603050405020304" pitchFamily="18" charset="0"/>
              </a:rPr>
              <a:t>ŷ = mode(T₁(x), T₂(x), …, Tₙ(x))</a:t>
            </a:r>
          </a:p>
          <a:p>
            <a:pPr marL="0" indent="0">
              <a:buNone/>
            </a:pPr>
            <a:r>
              <a:rPr lang="en-US" sz="2000" dirty="0">
                <a:latin typeface="Times New Roman" panose="02020603050405020304" pitchFamily="18" charset="0"/>
                <a:ea typeface="Nirmala Text" panose="020B0502040204020203" pitchFamily="34" charset="0"/>
                <a:cs typeface="Times New Roman" panose="02020603050405020304" pitchFamily="18" charset="0"/>
              </a:rPr>
              <a:t>Decision trees split data based on features, often using the Gini Index to select the best split by minimizing impurity.</a:t>
            </a:r>
          </a:p>
          <a:p>
            <a:pPr marL="0" indent="0">
              <a:buNone/>
            </a:pPr>
            <a:r>
              <a:rPr lang="en-US" sz="2000" dirty="0">
                <a:latin typeface="Times New Roman" panose="02020603050405020304" pitchFamily="18" charset="0"/>
                <a:ea typeface="Nirmala Text" panose="020B0502040204020203" pitchFamily="34" charset="0"/>
                <a:cs typeface="Times New Roman" panose="02020603050405020304" pitchFamily="18" charset="0"/>
              </a:rPr>
              <a:t>Other algorithms like Logistic Regression, Decision Trees, SVM, and Neural Networks have also been used for this problem. However, Logistic Regression struggles with non-linear data, Decision Trees may overfit, SVMs are computationally expensive, and Neural Networks require large datasets.</a:t>
            </a:r>
          </a:p>
          <a:p>
            <a:pPr marL="0" indent="0">
              <a:buNone/>
            </a:pPr>
            <a:r>
              <a:rPr lang="en-US" sz="2000" dirty="0">
                <a:latin typeface="Times New Roman" panose="02020603050405020304" pitchFamily="18" charset="0"/>
                <a:ea typeface="Nirmala Text" panose="020B0502040204020203" pitchFamily="34" charset="0"/>
                <a:cs typeface="Times New Roman" panose="02020603050405020304" pitchFamily="18" charset="0"/>
              </a:rPr>
              <a:t>Random Forest is chosen because it handles non-linear relationships well, reduces overfitting, works efficiently with smaller datasets, and provides a good balance of accuracy and simplicity.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1" u="none" strike="noStrike" cap="none" normalizeH="0" baseline="0" dirty="0">
              <a:ln>
                <a:noFill/>
              </a:ln>
              <a:solidFill>
                <a:schemeClr val="tx1"/>
              </a:solidFill>
              <a:effectLst/>
              <a:latin typeface="Arial Black" panose="020B0A04020102020204" pitchFamily="34" charset="0"/>
            </a:endParaRPr>
          </a:p>
        </p:txBody>
      </p:sp>
    </p:spTree>
    <p:extLst>
      <p:ext uri="{BB962C8B-B14F-4D97-AF65-F5344CB8AC3E}">
        <p14:creationId xmlns:p14="http://schemas.microsoft.com/office/powerpoint/2010/main" val="2832692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34F6B-2294-8100-6428-71DD4A23A3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876350-5987-57CB-5096-A77DCA2009EF}"/>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IMPLEMENTATION AND CODE</a:t>
            </a:r>
            <a:endParaRPr lang="en-US" dirty="0">
              <a:solidFill>
                <a:schemeClr val="tx1"/>
              </a:solidFill>
            </a:endParaRPr>
          </a:p>
        </p:txBody>
      </p:sp>
      <p:sp>
        <p:nvSpPr>
          <p:cNvPr id="3" name="Content Placeholder 2">
            <a:extLst>
              <a:ext uri="{FF2B5EF4-FFF2-40B4-BE49-F238E27FC236}">
                <a16:creationId xmlns:a16="http://schemas.microsoft.com/office/drawing/2014/main" id="{A229904C-7E5E-5862-ACA4-167CDBC5044B}"/>
              </a:ext>
            </a:extLst>
          </p:cNvPr>
          <p:cNvSpPr>
            <a:spLocks noGrp="1"/>
          </p:cNvSpPr>
          <p:nvPr>
            <p:ph idx="1"/>
          </p:nvPr>
        </p:nvSpPr>
        <p:spPr>
          <a:xfrm>
            <a:off x="838200" y="1267326"/>
            <a:ext cx="10515600" cy="4909637"/>
          </a:xfrm>
        </p:spPr>
        <p:txBody>
          <a:bodyPr/>
          <a:lstStyle/>
          <a:p>
            <a:r>
              <a:rPr lang="en-GB" dirty="0"/>
              <a:t>Link to code in Git-hub Repository</a:t>
            </a:r>
          </a:p>
          <a:p>
            <a:endParaRPr lang="en-GB" dirty="0"/>
          </a:p>
          <a:p>
            <a:endParaRPr lang="en-US" dirty="0"/>
          </a:p>
        </p:txBody>
      </p:sp>
      <p:sp>
        <p:nvSpPr>
          <p:cNvPr id="4" name="Date Placeholder 3">
            <a:extLst>
              <a:ext uri="{FF2B5EF4-FFF2-40B4-BE49-F238E27FC236}">
                <a16:creationId xmlns:a16="http://schemas.microsoft.com/office/drawing/2014/main" id="{C0BC0E82-F7C5-E4B3-8BB9-1583AC631384}"/>
              </a:ext>
            </a:extLst>
          </p:cNvPr>
          <p:cNvSpPr>
            <a:spLocks noGrp="1"/>
          </p:cNvSpPr>
          <p:nvPr>
            <p:ph type="dt" sz="half" idx="10"/>
          </p:nvPr>
        </p:nvSpPr>
        <p:spPr/>
        <p:txBody>
          <a:bodyPr/>
          <a:lstStyle/>
          <a:p>
            <a:fld id="{C5480D13-07B8-4CF5-901F-BD1025D74351}" type="datetime1">
              <a:rPr lang="en-US" smtClean="0"/>
              <a:t>4/25/2026</a:t>
            </a:fld>
            <a:endParaRPr lang="en-US"/>
          </a:p>
        </p:txBody>
      </p:sp>
      <p:sp>
        <p:nvSpPr>
          <p:cNvPr id="5" name="Slide Number Placeholder 4">
            <a:extLst>
              <a:ext uri="{FF2B5EF4-FFF2-40B4-BE49-F238E27FC236}">
                <a16:creationId xmlns:a16="http://schemas.microsoft.com/office/drawing/2014/main" id="{04775014-201C-1110-C957-46A30A1C2417}"/>
              </a:ext>
            </a:extLst>
          </p:cNvPr>
          <p:cNvSpPr>
            <a:spLocks noGrp="1"/>
          </p:cNvSpPr>
          <p:nvPr>
            <p:ph type="sldNum" sz="quarter" idx="12"/>
          </p:nvPr>
        </p:nvSpPr>
        <p:spPr/>
        <p:txBody>
          <a:bodyPr/>
          <a:lstStyle/>
          <a:p>
            <a:fld id="{1FCEF87E-815D-44D1-B0AB-39AF0402D6A8}" type="slidenum">
              <a:rPr lang="en-US" smtClean="0"/>
              <a:t>4</a:t>
            </a:fld>
            <a:endParaRPr lang="en-US"/>
          </a:p>
        </p:txBody>
      </p:sp>
      <p:graphicFrame>
        <p:nvGraphicFramePr>
          <p:cNvPr id="7" name="Table 6">
            <a:extLst>
              <a:ext uri="{FF2B5EF4-FFF2-40B4-BE49-F238E27FC236}">
                <a16:creationId xmlns:a16="http://schemas.microsoft.com/office/drawing/2014/main" id="{ACE64048-76D1-E559-97A6-1E9DA8CC9F64}"/>
              </a:ext>
            </a:extLst>
          </p:cNvPr>
          <p:cNvGraphicFramePr>
            <a:graphicFrameLocks noGrp="1"/>
          </p:cNvGraphicFramePr>
          <p:nvPr>
            <p:extLst>
              <p:ext uri="{D42A27DB-BD31-4B8C-83A1-F6EECF244321}">
                <p14:modId xmlns:p14="http://schemas.microsoft.com/office/powerpoint/2010/main" val="213390853"/>
              </p:ext>
            </p:extLst>
          </p:nvPr>
        </p:nvGraphicFramePr>
        <p:xfrm>
          <a:off x="1448334" y="2069398"/>
          <a:ext cx="8687068" cy="2521853"/>
        </p:xfrm>
        <a:graphic>
          <a:graphicData uri="http://schemas.openxmlformats.org/drawingml/2006/table">
            <a:tbl>
              <a:tblPr firstRow="1" bandRow="1">
                <a:tableStyleId>{21E4AEA4-8DFA-4A89-87EB-49C32662AFE0}</a:tableStyleId>
              </a:tblPr>
              <a:tblGrid>
                <a:gridCol w="4343534">
                  <a:extLst>
                    <a:ext uri="{9D8B030D-6E8A-4147-A177-3AD203B41FA5}">
                      <a16:colId xmlns:a16="http://schemas.microsoft.com/office/drawing/2014/main" val="4052004335"/>
                    </a:ext>
                  </a:extLst>
                </a:gridCol>
                <a:gridCol w="4343534">
                  <a:extLst>
                    <a:ext uri="{9D8B030D-6E8A-4147-A177-3AD203B41FA5}">
                      <a16:colId xmlns:a16="http://schemas.microsoft.com/office/drawing/2014/main" val="1251959847"/>
                    </a:ext>
                  </a:extLst>
                </a:gridCol>
              </a:tblGrid>
              <a:tr h="466689">
                <a:tc>
                  <a:txBody>
                    <a:bodyPr/>
                    <a:lstStyle/>
                    <a:p>
                      <a:r>
                        <a:rPr lang="en-GB" dirty="0">
                          <a:solidFill>
                            <a:schemeClr val="tx1"/>
                          </a:solidFill>
                        </a:rPr>
                        <a:t>List</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solidFill>
                            <a:schemeClr val="tx1"/>
                          </a:solidFill>
                        </a:rPr>
                        <a:t>Git-hub Repository Links</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9369799"/>
                  </a:ext>
                </a:extLst>
              </a:tr>
              <a:tr h="638376">
                <a:tc>
                  <a:txBody>
                    <a:bodyPr/>
                    <a:lstStyle/>
                    <a:p>
                      <a:r>
                        <a:rPr lang="en-GB" dirty="0">
                          <a:solidFill>
                            <a:schemeClr val="tx1"/>
                          </a:solidFill>
                        </a:rPr>
                        <a:t>Implementation of Code Link</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911860" marR="367665" indent="-6350">
                        <a:lnSpc>
                          <a:spcPct val="107000"/>
                        </a:lnSpc>
                        <a:spcAft>
                          <a:spcPts val="1300"/>
                        </a:spcAft>
                      </a:pPr>
                      <a:r>
                        <a:rPr lang="en-IN" sz="1400" b="1" u="sng" dirty="0">
                          <a:solidFill>
                            <a:srgbClr val="0000FF"/>
                          </a:solidFill>
                          <a:effectLst/>
                          <a:latin typeface="Times New Roman" panose="02020603050405020304" pitchFamily="18" charset="0"/>
                          <a:ea typeface="Times New Roman" panose="02020603050405020304" pitchFamily="18" charset="0"/>
                          <a:cs typeface="Mangal" panose="02040503050203030202" pitchFamily="18" charset="0"/>
                          <a:hlinkClick r:id="rId2"/>
                        </a:rPr>
                        <a:t>https://github.com/sbhavatharini0110web/ML_MINIPROJECT/tree/main</a:t>
                      </a:r>
                      <a:r>
                        <a:rPr lang="en-IN" sz="1400" b="1" u="none" strike="noStrike" dirty="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hlinkClick r:id="rId2"/>
                        </a:rPr>
                        <a:t> </a:t>
                      </a:r>
                      <a:r>
                        <a:rPr lang="en-IN" sz="1400" u="none" strike="noStrike" dirty="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hlinkClick r:id="rId2"/>
                        </a:rPr>
                        <a:t>  </a:t>
                      </a:r>
                      <a:endParaRPr lang="en-IN" sz="1400" dirty="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endParaRPr>
                    </a:p>
                  </a:txBody>
                  <a:tcPr marL="68580" marR="10160" marT="5905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6202207"/>
                  </a:ext>
                </a:extLst>
              </a:tr>
              <a:tr h="502388">
                <a:tc>
                  <a:txBody>
                    <a:bodyPr/>
                    <a:lstStyle/>
                    <a:p>
                      <a:r>
                        <a:rPr lang="en-GB" dirty="0">
                          <a:solidFill>
                            <a:schemeClr val="tx1"/>
                          </a:solidFill>
                        </a:rPr>
                        <a:t>Word Document Report Link</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hlinkClick r:id="rId3"/>
                        </a:rPr>
                        <a:t>BHAVATHARINI_ML_REPORT.pdf</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1050083"/>
                  </a:ext>
                </a:extLst>
              </a:tr>
              <a:tr h="473171">
                <a:tc>
                  <a:txBody>
                    <a:bodyPr/>
                    <a:lstStyle/>
                    <a:p>
                      <a:r>
                        <a:rPr lang="en-GB" dirty="0">
                          <a:solidFill>
                            <a:schemeClr val="tx1"/>
                          </a:solidFill>
                        </a:rPr>
                        <a:t>PPT Link</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hlinkClick r:id="rId4"/>
                        </a:rPr>
                        <a:t>https://1drv.ms/p/c/006e10d139b1534c/IQDTMFhjNFgORZGlZvZCvH4iAb9qG6IZn-bsLjsEsqFslxw?e=AH6Tck</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07241712"/>
                  </a:ext>
                </a:extLst>
              </a:tr>
            </a:tbl>
          </a:graphicData>
        </a:graphic>
      </p:graphicFrame>
    </p:spTree>
    <p:extLst>
      <p:ext uri="{BB962C8B-B14F-4D97-AF65-F5344CB8AC3E}">
        <p14:creationId xmlns:p14="http://schemas.microsoft.com/office/powerpoint/2010/main" val="5195863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55069-71B1-83F0-E5F5-B02F8F5772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358887-D4AD-6383-79D6-F528D34824D4}"/>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OUTPUT AND RESULTS</a:t>
            </a:r>
            <a:endParaRPr lang="en-US" dirty="0">
              <a:solidFill>
                <a:schemeClr val="tx1"/>
              </a:solidFill>
            </a:endParaRPr>
          </a:p>
        </p:txBody>
      </p:sp>
      <p:sp>
        <p:nvSpPr>
          <p:cNvPr id="4" name="Date Placeholder 3">
            <a:extLst>
              <a:ext uri="{FF2B5EF4-FFF2-40B4-BE49-F238E27FC236}">
                <a16:creationId xmlns:a16="http://schemas.microsoft.com/office/drawing/2014/main" id="{E47BACE5-322B-3F55-2CA9-8E1D4117021B}"/>
              </a:ext>
            </a:extLst>
          </p:cNvPr>
          <p:cNvSpPr>
            <a:spLocks noGrp="1"/>
          </p:cNvSpPr>
          <p:nvPr>
            <p:ph type="dt" sz="half" idx="10"/>
          </p:nvPr>
        </p:nvSpPr>
        <p:spPr/>
        <p:txBody>
          <a:bodyPr/>
          <a:lstStyle/>
          <a:p>
            <a:fld id="{C5480D13-07B8-4CF5-901F-BD1025D74351}" type="datetime1">
              <a:rPr lang="en-US" smtClean="0"/>
              <a:t>4/25/2026</a:t>
            </a:fld>
            <a:endParaRPr lang="en-US"/>
          </a:p>
        </p:txBody>
      </p:sp>
      <p:sp>
        <p:nvSpPr>
          <p:cNvPr id="5" name="Slide Number Placeholder 4">
            <a:extLst>
              <a:ext uri="{FF2B5EF4-FFF2-40B4-BE49-F238E27FC236}">
                <a16:creationId xmlns:a16="http://schemas.microsoft.com/office/drawing/2014/main" id="{A7D1AF6B-7EFE-60E0-2350-AE083D01AD8A}"/>
              </a:ext>
            </a:extLst>
          </p:cNvPr>
          <p:cNvSpPr>
            <a:spLocks noGrp="1"/>
          </p:cNvSpPr>
          <p:nvPr>
            <p:ph type="sldNum" sz="quarter" idx="12"/>
          </p:nvPr>
        </p:nvSpPr>
        <p:spPr/>
        <p:txBody>
          <a:bodyPr/>
          <a:lstStyle/>
          <a:p>
            <a:fld id="{1FCEF87E-815D-44D1-B0AB-39AF0402D6A8}" type="slidenum">
              <a:rPr lang="en-US" smtClean="0"/>
              <a:t>5</a:t>
            </a:fld>
            <a:endParaRPr lang="en-US"/>
          </a:p>
        </p:txBody>
      </p:sp>
      <p:sp>
        <p:nvSpPr>
          <p:cNvPr id="6" name="Rectangle 1">
            <a:extLst>
              <a:ext uri="{FF2B5EF4-FFF2-40B4-BE49-F238E27FC236}">
                <a16:creationId xmlns:a16="http://schemas.microsoft.com/office/drawing/2014/main" id="{B1EA0CDC-05B6-A3C2-5ADE-3C6EE60110D7}"/>
              </a:ext>
            </a:extLst>
          </p:cNvPr>
          <p:cNvSpPr>
            <a:spLocks noGrp="1" noChangeArrowheads="1"/>
          </p:cNvSpPr>
          <p:nvPr>
            <p:ph idx="1"/>
          </p:nvPr>
        </p:nvSpPr>
        <p:spPr bwMode="auto">
          <a:xfrm>
            <a:off x="838200" y="3596833"/>
            <a:ext cx="816142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a:t>
            </a:r>
          </a:p>
        </p:txBody>
      </p:sp>
      <p:pic>
        <p:nvPicPr>
          <p:cNvPr id="3" name="Picture 2">
            <a:extLst>
              <a:ext uri="{FF2B5EF4-FFF2-40B4-BE49-F238E27FC236}">
                <a16:creationId xmlns:a16="http://schemas.microsoft.com/office/drawing/2014/main" id="{C7630233-097E-424B-9CBB-EEBC9A823327}"/>
              </a:ext>
            </a:extLst>
          </p:cNvPr>
          <p:cNvPicPr>
            <a:picLocks noChangeAspect="1"/>
          </p:cNvPicPr>
          <p:nvPr/>
        </p:nvPicPr>
        <p:blipFill>
          <a:blip r:embed="rId2"/>
          <a:stretch>
            <a:fillRect/>
          </a:stretch>
        </p:blipFill>
        <p:spPr>
          <a:xfrm>
            <a:off x="112008" y="1498146"/>
            <a:ext cx="5781833" cy="4156087"/>
          </a:xfrm>
          <a:prstGeom prst="rect">
            <a:avLst/>
          </a:prstGeom>
        </p:spPr>
      </p:pic>
      <p:pic>
        <p:nvPicPr>
          <p:cNvPr id="7" name="Picture 6">
            <a:extLst>
              <a:ext uri="{FF2B5EF4-FFF2-40B4-BE49-F238E27FC236}">
                <a16:creationId xmlns:a16="http://schemas.microsoft.com/office/drawing/2014/main" id="{71AD7DCA-54C4-4A0F-8FC9-9B78A37AD8B9}"/>
              </a:ext>
            </a:extLst>
          </p:cNvPr>
          <p:cNvPicPr>
            <a:picLocks noChangeAspect="1"/>
          </p:cNvPicPr>
          <p:nvPr/>
        </p:nvPicPr>
        <p:blipFill>
          <a:blip r:embed="rId3"/>
          <a:stretch>
            <a:fillRect/>
          </a:stretch>
        </p:blipFill>
        <p:spPr>
          <a:xfrm>
            <a:off x="6096000" y="1498146"/>
            <a:ext cx="5983992" cy="4156087"/>
          </a:xfrm>
          <a:prstGeom prst="rect">
            <a:avLst/>
          </a:prstGeom>
        </p:spPr>
      </p:pic>
    </p:spTree>
    <p:extLst>
      <p:ext uri="{BB962C8B-B14F-4D97-AF65-F5344CB8AC3E}">
        <p14:creationId xmlns:p14="http://schemas.microsoft.com/office/powerpoint/2010/main" val="28052695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63ECA-B59E-8742-1165-9911D2A450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0B2EF6-B936-B9EB-24E4-C84A062402DD}"/>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OUTPUT AND RESULTS</a:t>
            </a:r>
            <a:endParaRPr lang="en-US" dirty="0">
              <a:solidFill>
                <a:schemeClr val="tx1"/>
              </a:solidFill>
            </a:endParaRPr>
          </a:p>
        </p:txBody>
      </p:sp>
      <p:sp>
        <p:nvSpPr>
          <p:cNvPr id="3" name="Content Placeholder 2">
            <a:extLst>
              <a:ext uri="{FF2B5EF4-FFF2-40B4-BE49-F238E27FC236}">
                <a16:creationId xmlns:a16="http://schemas.microsoft.com/office/drawing/2014/main" id="{4B9409AF-1BD6-CFDC-B172-AD3D38536AC2}"/>
              </a:ext>
            </a:extLst>
          </p:cNvPr>
          <p:cNvSpPr>
            <a:spLocks noGrp="1"/>
          </p:cNvSpPr>
          <p:nvPr>
            <p:ph idx="1"/>
          </p:nvPr>
        </p:nvSpPr>
        <p:spPr>
          <a:xfrm>
            <a:off x="838200" y="2059805"/>
            <a:ext cx="10515600" cy="3821231"/>
          </a:xfrm>
        </p:spPr>
        <p:txBody>
          <a:bodyPr>
            <a:normAutofit/>
          </a:bodyPr>
          <a:lstStyle/>
          <a:p>
            <a:r>
              <a:rPr lang="en-IN" sz="2000" dirty="0">
                <a:solidFill>
                  <a:srgbClr val="000000"/>
                </a:solidFill>
                <a:effectLst/>
                <a:latin typeface="Times New Roman" panose="02020603050405020304" pitchFamily="18" charset="0"/>
                <a:ea typeface="Times New Roman" panose="02020603050405020304" pitchFamily="18" charset="0"/>
              </a:rPr>
              <a:t>The proposed system for </a:t>
            </a:r>
            <a:r>
              <a:rPr lang="en-IN" sz="2000" b="1" dirty="0">
                <a:solidFill>
                  <a:srgbClr val="000000"/>
                </a:solidFill>
                <a:effectLst/>
                <a:latin typeface="Times New Roman" panose="02020603050405020304" pitchFamily="18" charset="0"/>
                <a:ea typeface="Times New Roman" panose="02020603050405020304" pitchFamily="18" charset="0"/>
              </a:rPr>
              <a:t>Smart Parking Space Availability Prediction using Random Forest Classifier</a:t>
            </a:r>
            <a:r>
              <a:rPr lang="en-IN" sz="2000" dirty="0">
                <a:solidFill>
                  <a:srgbClr val="000000"/>
                </a:solidFill>
                <a:effectLst/>
                <a:latin typeface="Times New Roman" panose="02020603050405020304" pitchFamily="18" charset="0"/>
                <a:ea typeface="Times New Roman" panose="02020603050405020304" pitchFamily="18" charset="0"/>
              </a:rPr>
              <a:t> successfully demonstrates the ability to predict parking availability based on input features such as time, day type, and vehicle count. The model achieved high accuracy and produced reliable predictions for the given dataset, indicating that Random Forest is effective for this classification problem. </a:t>
            </a:r>
          </a:p>
          <a:p>
            <a:r>
              <a:rPr lang="en-IN" sz="2000" dirty="0">
                <a:solidFill>
                  <a:srgbClr val="000000"/>
                </a:solidFill>
                <a:effectLst/>
                <a:latin typeface="Times New Roman" panose="02020603050405020304" pitchFamily="18" charset="0"/>
                <a:ea typeface="Times New Roman" panose="02020603050405020304" pitchFamily="18" charset="0"/>
              </a:rPr>
              <a:t>Compared to simpler algorithms like Logistic Regression, which assumes a linear relationship between features, the Random Forest model performs better in capturing complex and non-linear patterns in the data.</a:t>
            </a:r>
          </a:p>
          <a:p>
            <a:r>
              <a:rPr lang="en-IN" sz="2000" dirty="0">
                <a:solidFill>
                  <a:srgbClr val="000000"/>
                </a:solidFill>
                <a:effectLst/>
                <a:latin typeface="Times New Roman" panose="02020603050405020304" pitchFamily="18" charset="0"/>
                <a:ea typeface="Times New Roman" panose="02020603050405020304" pitchFamily="18" charset="0"/>
              </a:rPr>
              <a:t> Additionally, unlike a single Decision Tree, Random Forest reduces overfitting by combining multiple trees, resulting in improved stability and accuracy.   </a:t>
            </a:r>
          </a:p>
          <a:p>
            <a:pPr lvl="0"/>
            <a:endParaRPr lang="en-US" i="1" dirty="0"/>
          </a:p>
        </p:txBody>
      </p:sp>
      <p:sp>
        <p:nvSpPr>
          <p:cNvPr id="4" name="Date Placeholder 3">
            <a:extLst>
              <a:ext uri="{FF2B5EF4-FFF2-40B4-BE49-F238E27FC236}">
                <a16:creationId xmlns:a16="http://schemas.microsoft.com/office/drawing/2014/main" id="{04773938-5370-329C-27AB-D82ECB9D7128}"/>
              </a:ext>
            </a:extLst>
          </p:cNvPr>
          <p:cNvSpPr>
            <a:spLocks noGrp="1"/>
          </p:cNvSpPr>
          <p:nvPr>
            <p:ph type="dt" sz="half" idx="10"/>
          </p:nvPr>
        </p:nvSpPr>
        <p:spPr/>
        <p:txBody>
          <a:bodyPr/>
          <a:lstStyle/>
          <a:p>
            <a:fld id="{C5480D13-07B8-4CF5-901F-BD1025D74351}" type="datetime1">
              <a:rPr lang="en-US" smtClean="0"/>
              <a:t>4/25/2026</a:t>
            </a:fld>
            <a:endParaRPr lang="en-US"/>
          </a:p>
        </p:txBody>
      </p:sp>
      <p:sp>
        <p:nvSpPr>
          <p:cNvPr id="5" name="Slide Number Placeholder 4">
            <a:extLst>
              <a:ext uri="{FF2B5EF4-FFF2-40B4-BE49-F238E27FC236}">
                <a16:creationId xmlns:a16="http://schemas.microsoft.com/office/drawing/2014/main" id="{E8A83B3C-8735-B8FC-8D50-B919B3471343}"/>
              </a:ext>
            </a:extLst>
          </p:cNvPr>
          <p:cNvSpPr>
            <a:spLocks noGrp="1"/>
          </p:cNvSpPr>
          <p:nvPr>
            <p:ph type="sldNum" sz="quarter" idx="12"/>
          </p:nvPr>
        </p:nvSpPr>
        <p:spPr/>
        <p:txBody>
          <a:bodyPr/>
          <a:lstStyle/>
          <a:p>
            <a:fld id="{1FCEF87E-815D-44D1-B0AB-39AF0402D6A8}" type="slidenum">
              <a:rPr lang="en-US" smtClean="0"/>
              <a:t>6</a:t>
            </a:fld>
            <a:endParaRPr lang="en-US"/>
          </a:p>
        </p:txBody>
      </p:sp>
    </p:spTree>
    <p:extLst>
      <p:ext uri="{BB962C8B-B14F-4D97-AF65-F5344CB8AC3E}">
        <p14:creationId xmlns:p14="http://schemas.microsoft.com/office/powerpoint/2010/main" val="1263363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EA9EE-5679-A557-E7BF-0A904D0977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BF6077-2697-7116-5A2C-99B8054B7FE2}"/>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REFERENCES</a:t>
            </a:r>
            <a:endParaRPr lang="en-US" dirty="0">
              <a:solidFill>
                <a:schemeClr val="tx1"/>
              </a:solidFill>
            </a:endParaRPr>
          </a:p>
        </p:txBody>
      </p:sp>
      <p:sp>
        <p:nvSpPr>
          <p:cNvPr id="4" name="Date Placeholder 3">
            <a:extLst>
              <a:ext uri="{FF2B5EF4-FFF2-40B4-BE49-F238E27FC236}">
                <a16:creationId xmlns:a16="http://schemas.microsoft.com/office/drawing/2014/main" id="{418721BC-42E2-4822-3086-5AF81F1A3726}"/>
              </a:ext>
            </a:extLst>
          </p:cNvPr>
          <p:cNvSpPr>
            <a:spLocks noGrp="1"/>
          </p:cNvSpPr>
          <p:nvPr>
            <p:ph type="dt" sz="half" idx="10"/>
          </p:nvPr>
        </p:nvSpPr>
        <p:spPr/>
        <p:txBody>
          <a:bodyPr/>
          <a:lstStyle/>
          <a:p>
            <a:fld id="{C5480D13-07B8-4CF5-901F-BD1025D74351}" type="datetime1">
              <a:rPr lang="en-US" smtClean="0"/>
              <a:t>4/25/2026</a:t>
            </a:fld>
            <a:endParaRPr lang="en-US"/>
          </a:p>
        </p:txBody>
      </p:sp>
      <p:sp>
        <p:nvSpPr>
          <p:cNvPr id="5" name="Slide Number Placeholder 4">
            <a:extLst>
              <a:ext uri="{FF2B5EF4-FFF2-40B4-BE49-F238E27FC236}">
                <a16:creationId xmlns:a16="http://schemas.microsoft.com/office/drawing/2014/main" id="{60D8BC28-15FA-0C88-32FB-88458DEBBC23}"/>
              </a:ext>
            </a:extLst>
          </p:cNvPr>
          <p:cNvSpPr>
            <a:spLocks noGrp="1"/>
          </p:cNvSpPr>
          <p:nvPr>
            <p:ph type="sldNum" sz="quarter" idx="12"/>
          </p:nvPr>
        </p:nvSpPr>
        <p:spPr/>
        <p:txBody>
          <a:bodyPr/>
          <a:lstStyle/>
          <a:p>
            <a:fld id="{1FCEF87E-815D-44D1-B0AB-39AF0402D6A8}" type="slidenum">
              <a:rPr lang="en-US" smtClean="0"/>
              <a:t>7</a:t>
            </a:fld>
            <a:endParaRPr lang="en-US"/>
          </a:p>
        </p:txBody>
      </p:sp>
      <p:sp>
        <p:nvSpPr>
          <p:cNvPr id="6" name="Rectangle 1">
            <a:extLst>
              <a:ext uri="{FF2B5EF4-FFF2-40B4-BE49-F238E27FC236}">
                <a16:creationId xmlns:a16="http://schemas.microsoft.com/office/drawing/2014/main" id="{8C4DC1D2-7DF7-3C56-2E61-1AB0AB44D53C}"/>
              </a:ext>
            </a:extLst>
          </p:cNvPr>
          <p:cNvSpPr>
            <a:spLocks noGrp="1" noChangeArrowheads="1"/>
          </p:cNvSpPr>
          <p:nvPr>
            <p:ph idx="1"/>
          </p:nvPr>
        </p:nvSpPr>
        <p:spPr bwMode="auto">
          <a:xfrm>
            <a:off x="174171" y="1745292"/>
            <a:ext cx="12366171" cy="3725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370205" lvl="0" indent="-342900" fontAlgn="base">
              <a:lnSpc>
                <a:spcPct val="105000"/>
              </a:lnSpc>
              <a:spcAft>
                <a:spcPts val="55"/>
              </a:spcAft>
              <a:buClr>
                <a:srgbClr val="000000"/>
              </a:buClr>
              <a:buSzPts val="1200"/>
              <a:buFont typeface="Arial" panose="020B0604020202020204" pitchFamily="34" charset="0"/>
              <a:buChar char="•"/>
            </a:pPr>
            <a:r>
              <a:rPr lang="en-IN" sz="2000" u="none" strike="noStrike"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Pattern Recognition and Machine Learning   </a:t>
            </a:r>
          </a:p>
          <a:p>
            <a:pPr marL="911225" marR="370205" indent="-6350">
              <a:lnSpc>
                <a:spcPct val="105000"/>
              </a:lnSpc>
              <a:spcAft>
                <a:spcPts val="35"/>
              </a:spcAft>
            </a:pPr>
            <a:r>
              <a:rPr lang="en-IN"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Christopher M. Bishop, </a:t>
            </a:r>
            <a:r>
              <a:rPr lang="en-IN" sz="20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Pattern Recognition and Machine Learning</a:t>
            </a:r>
            <a:r>
              <a:rPr lang="en-IN"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Springer, 2006.    </a:t>
            </a:r>
          </a:p>
          <a:p>
            <a:pPr marL="342900" marR="370205" lvl="0" indent="-342900" fontAlgn="base">
              <a:lnSpc>
                <a:spcPct val="105000"/>
              </a:lnSpc>
              <a:spcAft>
                <a:spcPts val="80"/>
              </a:spcAft>
              <a:buClr>
                <a:srgbClr val="000000"/>
              </a:buClr>
              <a:buSzPts val="1200"/>
              <a:buFont typeface="Arial" panose="020B0604020202020204" pitchFamily="34" charset="0"/>
              <a:buChar char="•"/>
            </a:pPr>
            <a:r>
              <a:rPr lang="en-IN" sz="2000" u="none" strike="noStrike"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Hands-On Machine Learning with Scikit-Learn, </a:t>
            </a:r>
            <a:r>
              <a:rPr lang="en-IN" sz="2000" u="none" strike="noStrike" dirty="0" err="1">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Keras</a:t>
            </a:r>
            <a:r>
              <a:rPr lang="en-IN" sz="2000" u="none" strike="noStrike"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 and TensorFlow   </a:t>
            </a:r>
          </a:p>
          <a:p>
            <a:pPr marL="342900" marR="370205" lvl="0" indent="-342900" fontAlgn="base">
              <a:lnSpc>
                <a:spcPct val="105000"/>
              </a:lnSpc>
              <a:spcAft>
                <a:spcPts val="1505"/>
              </a:spcAft>
              <a:buClr>
                <a:srgbClr val="000000"/>
              </a:buClr>
              <a:buSzPts val="1200"/>
              <a:buFont typeface="Arial" panose="020B0604020202020204" pitchFamily="34" charset="0"/>
              <a:buChar char="•"/>
            </a:pPr>
            <a:r>
              <a:rPr lang="en-IN" sz="2000" u="none" strike="noStrike"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Scikit-learn Official Documentation </a:t>
            </a:r>
            <a:r>
              <a:rPr lang="en-IN" sz="2000" u="none" strike="noStrike" dirty="0">
                <a:solidFill>
                  <a:srgbClr val="0000FF"/>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hlinkClick r:id="rId2"/>
              </a:rPr>
              <a:t>https://scikitlearn.org/stable/</a:t>
            </a:r>
            <a:r>
              <a:rPr lang="en-IN" sz="2000" u="none" strike="noStrike"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hlinkClick r:id="rId2"/>
              </a:rPr>
              <a:t>   </a:t>
            </a:r>
            <a:endParaRPr lang="en-IN" sz="2000" u="none" strike="noStrike"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endParaRPr>
          </a:p>
          <a:p>
            <a:pPr marL="342900" marR="370205" lvl="0" indent="-342900" fontAlgn="base">
              <a:lnSpc>
                <a:spcPct val="105000"/>
              </a:lnSpc>
              <a:spcAft>
                <a:spcPts val="1960"/>
              </a:spcAft>
              <a:buClr>
                <a:srgbClr val="000000"/>
              </a:buClr>
              <a:buSzPts val="1200"/>
              <a:buFont typeface="Arial" panose="020B0604020202020204" pitchFamily="34" charset="0"/>
              <a:buChar char="•"/>
            </a:pPr>
            <a:r>
              <a:rPr lang="en-IN" sz="2000" u="none" strike="noStrike" dirty="0" err="1">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GeeksforGeeks</a:t>
            </a:r>
            <a:r>
              <a:rPr lang="en-IN" sz="2000" u="none" strike="noStrike"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 </a:t>
            </a:r>
            <a:r>
              <a:rPr lang="en-IN" sz="2000" u="none" strike="noStrike" dirty="0">
                <a:solidFill>
                  <a:srgbClr val="0000FF"/>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hlinkClick r:id="rId3"/>
              </a:rPr>
              <a:t>https://www.geeksforgeeks.org/machinelearning/</a:t>
            </a:r>
            <a:r>
              <a:rPr lang="en-IN" sz="2000" u="none" strike="noStrike"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hlinkClick r:id="rId3"/>
              </a:rPr>
              <a:t>   </a:t>
            </a:r>
            <a:r>
              <a:rPr lang="en-IN" sz="2000" u="none" strike="noStrike"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(Concept explanations and examples)   </a:t>
            </a:r>
          </a:p>
          <a:p>
            <a:pPr marL="342900" marR="370205" lvl="0" indent="-342900" fontAlgn="base">
              <a:lnSpc>
                <a:spcPct val="107000"/>
              </a:lnSpc>
              <a:spcAft>
                <a:spcPts val="1300"/>
              </a:spcAft>
              <a:buClr>
                <a:srgbClr val="000000"/>
              </a:buClr>
              <a:buSzPts val="1200"/>
              <a:buFont typeface="Arial" panose="020B0604020202020204" pitchFamily="34" charset="0"/>
              <a:buChar char="•"/>
            </a:pPr>
            <a:r>
              <a:rPr lang="en-IN" sz="2000" u="none" strike="noStrike"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Towards Data Science </a:t>
            </a:r>
            <a:r>
              <a:rPr lang="en-IN" sz="2000" u="none" strike="noStrike" dirty="0">
                <a:solidFill>
                  <a:srgbClr val="0000FF"/>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hlinkClick r:id="rId4"/>
              </a:rPr>
              <a:t>https://towardsdatascience.com/</a:t>
            </a:r>
            <a:r>
              <a:rPr lang="en-IN" sz="2000" u="none" strike="noStrike"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hlinkClick r:id="rId4"/>
              </a:rPr>
              <a:t> </a:t>
            </a:r>
            <a:r>
              <a:rPr lang="en-IN" sz="2000" u="none" strike="noStrike"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hlinkClick r:id="rId4"/>
              </a:rPr>
              <a:t>  </a:t>
            </a:r>
            <a:endParaRPr lang="en-IN" sz="2000" u="none" strike="noStrike"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endParaRPr>
          </a:p>
          <a:p>
            <a:endParaRPr kumimoji="0" lang="en-US" altLang="en-US" sz="2000" b="1" i="1" u="none" strike="noStrike" cap="none" normalizeH="0" baseline="0" dirty="0">
              <a:ln>
                <a:noFill/>
              </a:ln>
              <a:solidFill>
                <a:schemeClr val="tx1"/>
              </a:solidFill>
              <a:effectLst/>
              <a:latin typeface="Arial Black" panose="020B0A04020102020204" pitchFamily="34" charset="0"/>
            </a:endParaRPr>
          </a:p>
        </p:txBody>
      </p:sp>
    </p:spTree>
    <p:extLst>
      <p:ext uri="{BB962C8B-B14F-4D97-AF65-F5344CB8AC3E}">
        <p14:creationId xmlns:p14="http://schemas.microsoft.com/office/powerpoint/2010/main" val="7526071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131</TotalTime>
  <Words>805</Words>
  <Application>Microsoft Office PowerPoint</Application>
  <PresentationFormat>Widescreen</PresentationFormat>
  <Paragraphs>59</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Arial Black</vt:lpstr>
      <vt:lpstr>Calibri</vt:lpstr>
      <vt:lpstr>Calibri Light</vt:lpstr>
      <vt:lpstr>Times New Roman</vt:lpstr>
      <vt:lpstr>Office Theme</vt:lpstr>
      <vt:lpstr>DEPARTMENT OF ARTIFICIAL INTELLIGENCE AND DATA SCIENCE ACADEMIC YEAR 2025 - 2026 SEMESTER IV ARTIFICIAL INTELLIGENCE LABORATORY  MINI PROJECT REVIEW           SMART PARKING SPACE AVAILABILITY PREDICTION USING RANDOM FOREST CLASSIFIER </vt:lpstr>
      <vt:lpstr>PROBLEM STATEMENT</vt:lpstr>
      <vt:lpstr>THEORETICAL BACKGROUND</vt:lpstr>
      <vt:lpstr>IMPLEMENTATION AND CODE</vt:lpstr>
      <vt:lpstr>OUTPUT AND RESULTS</vt:lpstr>
      <vt:lpstr>OUTPUT AND RESULTS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ARTIFICIAL INTELLIGENCE AND DATA SCIENCE ACADEMIC YEAR 2025 - 2026 SEMESTER III ARTIFICIAL INTELLIGENCE LABORATORY  MINI PROJECT REVIEW   &lt;TITLE OF THE PROJECT&gt;</dc:title>
  <dc:creator>SANKAR GANESH K</dc:creator>
  <cp:lastModifiedBy>Bhavatharini srinivasak kannan</cp:lastModifiedBy>
  <cp:revision>12</cp:revision>
  <dcterms:created xsi:type="dcterms:W3CDTF">2025-10-18T08:57:34Z</dcterms:created>
  <dcterms:modified xsi:type="dcterms:W3CDTF">2026-04-25T10:23:30Z</dcterms:modified>
</cp:coreProperties>
</file>